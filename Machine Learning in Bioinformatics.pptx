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78" r:id="rId7"/>
    <p:sldId id="261" r:id="rId8"/>
    <p:sldId id="262" r:id="rId9"/>
    <p:sldId id="263" r:id="rId10"/>
    <p:sldId id="287" r:id="rId11"/>
    <p:sldId id="264" r:id="rId12"/>
    <p:sldId id="283" r:id="rId13"/>
    <p:sldId id="288" r:id="rId14"/>
    <p:sldId id="289" r:id="rId15"/>
    <p:sldId id="266" r:id="rId16"/>
    <p:sldId id="284" r:id="rId17"/>
    <p:sldId id="290" r:id="rId18"/>
    <p:sldId id="285" r:id="rId19"/>
    <p:sldId id="291" r:id="rId20"/>
    <p:sldId id="292" r:id="rId21"/>
    <p:sldId id="286" r:id="rId22"/>
    <p:sldId id="265" r:id="rId23"/>
    <p:sldId id="282" r:id="rId24"/>
    <p:sldId id="281" r:id="rId25"/>
  </p:sldIdLst>
  <p:sldSz cx="12192000" cy="6858000"/>
  <p:notesSz cx="6858000" cy="9144000"/>
  <p:embeddedFontLst>
    <p:embeddedFont>
      <p:font typeface="Bahnschrift Light" panose="020B0502040204020203" pitchFamily="34" charset="0"/>
      <p:regular r:id="rId27"/>
    </p:embeddedFont>
    <p:embeddedFont>
      <p:font typeface="Comic Sans MS" panose="030F0702030302020204" pitchFamily="66" charset="0"/>
      <p:regular r:id="rId28"/>
      <p:bold r:id="rId29"/>
      <p:italic r:id="rId30"/>
      <p:boldItalic r:id="rId31"/>
    </p:embeddedFont>
    <p:embeddedFont>
      <p:font typeface="Inter" panose="020B0604020202020204" charset="0"/>
      <p:regular r:id="rId32"/>
      <p:bold r:id="rId33"/>
      <p:italic r:id="rId34"/>
      <p:boldItalic r:id="rId35"/>
    </p:embeddedFont>
    <p:embeddedFont>
      <p:font typeface="Inter Medium" panose="020B0604020202020204" charset="0"/>
      <p:regular r:id="rId36"/>
      <p:bold r:id="rId37"/>
      <p:italic r:id="rId38"/>
      <p:boldItalic r:id="rId39"/>
    </p:embeddedFont>
    <p:embeddedFont>
      <p:font typeface="Merriweather" panose="00000500000000000000" pitchFamily="2" charset="0"/>
      <p:regular r:id="rId40"/>
      <p:bold r:id="rId41"/>
      <p:italic r:id="rId42"/>
      <p:boldItalic r:id="rId43"/>
    </p:embeddedFont>
    <p:embeddedFont>
      <p:font typeface="Poppins" panose="00000500000000000000" pitchFamily="2" charset="0"/>
      <p:regular r:id="rId44"/>
      <p:bold r:id="rId45"/>
      <p:italic r:id="rId46"/>
      <p:boldItalic r:id="rId47"/>
    </p:embeddedFont>
    <p:embeddedFont>
      <p:font typeface="Poppins SemiBold" panose="00000700000000000000" pitchFamily="2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font" Target="fonts/font21.fntdata"/><Relationship Id="rId50" Type="http://schemas.openxmlformats.org/officeDocument/2006/relationships/font" Target="fonts/font24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font" Target="fonts/font22.fntdata"/><Relationship Id="rId8" Type="http://schemas.openxmlformats.org/officeDocument/2006/relationships/slide" Target="slides/slide7.xml"/><Relationship Id="rId51" Type="http://schemas.openxmlformats.org/officeDocument/2006/relationships/font" Target="fonts/font2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font" Target="fonts/font20.fntdata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cbab3a369_1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cbab3a369_1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d9c40d9f9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d9c40d9f9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b9a3abe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cb9a3abe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d4400e736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d4400e736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d4400e73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d4400e73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f43590254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f43590254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f43590254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f43590254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9822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6096000" y="10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85" name="Google Shape;85;p21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354000" y="1607767"/>
            <a:ext cx="5393600" cy="20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1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16564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lt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7300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84614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jpe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132D9A-27B9-BD6F-9F95-DF8344F5E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523" y="95249"/>
            <a:ext cx="10011263" cy="6667501"/>
          </a:xfrm>
          <a:prstGeom prst="rect">
            <a:avLst/>
          </a:prstGeom>
        </p:spPr>
      </p:pic>
      <p:sp>
        <p:nvSpPr>
          <p:cNvPr id="86" name="Google Shape;86;p13"/>
          <p:cNvSpPr txBox="1"/>
          <p:nvPr/>
        </p:nvSpPr>
        <p:spPr>
          <a:xfrm>
            <a:off x="3679086" y="5485639"/>
            <a:ext cx="782955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 Medium"/>
                <a:ea typeface="Inter Medium"/>
                <a:cs typeface="Inter Medium"/>
                <a:sym typeface="Inter Medium"/>
              </a:rPr>
              <a:t>A Simple Guide to Biology Meets Artificial Intelligence</a:t>
            </a:r>
            <a:endParaRPr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797423" y="1862256"/>
            <a:ext cx="8221027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  <a:br>
              <a:rPr lang="en-US" sz="1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in Bioinformatics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2555557" y="1926877"/>
            <a:ext cx="7080885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Big Data Problem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524500" y="3308002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3650902"/>
            <a:ext cx="762000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Our bodies contain massive amounts of data hidden in our DNA. We have so much data that humans cannot read it alone. We need smart computers to help us.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71B957-90A9-80E6-3636-DB4B9FA48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6442" y="87464"/>
            <a:ext cx="2263530" cy="301954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18A124B-57B3-ECB9-8C2A-7DE4A6BB1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9" y="10447"/>
            <a:ext cx="3155278" cy="177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50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695325" y="2217003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09625" y="2216050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What is Genomics?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study of all of a person's genes (their genome).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95325" y="3077825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09625" y="3076872"/>
            <a:ext cx="50006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Challenge: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single human genome has over 3 billion letters of code. Searching for one mistake (mutation) is like finding a needle in a massive haystack.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95325" y="4608968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09625" y="4608016"/>
            <a:ext cx="50006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AI Solution: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Machine learning algorithms can scan millions of DNA sequences in seconds to find the hidden patterns that cause diseases.</a:t>
            </a:r>
            <a:endParaRPr/>
          </a:p>
        </p:txBody>
      </p:sp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1050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Reading the Code of Life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/>
          <p:nvPr/>
        </p:nvSpPr>
        <p:spPr>
          <a:xfrm>
            <a:off x="571500" y="4171950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93C5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71500" y="4581525"/>
            <a:ext cx="254124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STEP 1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07968" y="4819650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Collect Data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5295900"/>
            <a:ext cx="254124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Gather biological samples (blood, tissue) and sequence the DNA or proteins.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3407419" y="2242542"/>
            <a:ext cx="254124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STEP 2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3343888" y="2480667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Clean Data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3407419" y="2956917"/>
            <a:ext cx="254124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Remove errors, organize the information, and prepare it for the computer.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243339" y="4581525"/>
            <a:ext cx="254124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STEP 3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179808" y="4819650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Train Model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243339" y="5295900"/>
            <a:ext cx="254124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Feed the data into an AI model so it can learn the rules and patterns of the biology.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079259" y="2242542"/>
            <a:ext cx="254124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STEP 4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015728" y="2480667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Predict &amp; Solve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079259" y="2956917"/>
            <a:ext cx="254124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 the trained AI to diagnose diseases, find new drugs, or understand mutations.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1689720" y="40481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57150" cap="flat" cmpd="sng">
            <a:solidFill>
              <a:srgbClr val="EF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4525640" y="40481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57150" cap="flat" cmpd="sng">
            <a:solidFill>
              <a:srgbClr val="EF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7361559" y="40481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57150" cap="flat" cmpd="sng">
            <a:solidFill>
              <a:srgbClr val="EF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10197479" y="40481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57150" cap="flat" cmpd="sng">
            <a:solidFill>
              <a:srgbClr val="EF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Bioinformatics Workflow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28154"/>
            <a:ext cx="3429000" cy="5163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428154"/>
            <a:ext cx="3429000" cy="5163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428154"/>
            <a:ext cx="3429000" cy="5163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1828204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905827" y="3018829"/>
            <a:ext cx="2760345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Supervised Learning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71550" y="3694509"/>
            <a:ext cx="2628900" cy="2010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give the computer examples with "answers." For example, showing it 1,000 pictures of healthy cells and 1,000 sick cells so it learns the difference.</a:t>
            </a:r>
            <a:endParaRPr dirty="0"/>
          </a:p>
        </p:txBody>
      </p:sp>
      <p:pic>
        <p:nvPicPr>
          <p:cNvPr id="145" name="Google Shape;14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19750" y="1828204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4715827" y="3018829"/>
            <a:ext cx="2760345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Unsupervised Learning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781549" y="3684984"/>
            <a:ext cx="2628900" cy="2010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give the computer data without answers and ask it to find hidden groups. Great for discovering new, unknown types of diseases.</a:t>
            </a:r>
            <a:endParaRPr dirty="0"/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29750" y="1828204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8820864" y="3018829"/>
            <a:ext cx="217027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Deep Learning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591550" y="3599854"/>
            <a:ext cx="2628900" cy="234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Advanced AI inspired by the human brain. It is highly powerful and is used for complex tasks like looking at medical images or 3D protein shapes.</a:t>
            </a:r>
            <a:endParaRPr dirty="0"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19300" y="2028229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29300" y="2028229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572625" y="2028229"/>
            <a:ext cx="6667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71500" y="266104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How Computers Learn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71500" y="1018579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04192A-2A43-2CB6-682C-AB6A2928F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01" y="982695"/>
            <a:ext cx="10613958" cy="45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5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/>
        </p:nvSpPr>
        <p:spPr>
          <a:xfrm>
            <a:off x="571500" y="571500"/>
            <a:ext cx="555069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Predicting Proteins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1323975"/>
            <a:ext cx="5286375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2403574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3D Puzzle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2984599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Proteins are tiny machines that run our bodies. Their 3D shape determines what they do. If they fold into the wrong shape, it can cause diseases.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4132957"/>
            <a:ext cx="528637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Figuring out a protein's shape used to take scientists years in a lab. Now, an AI called AlphaFold can predict protein shapes accurately in minutes, changing biology forever.</a:t>
            </a:r>
            <a:endParaRPr/>
          </a:p>
        </p:txBody>
      </p:sp>
      <p:pic>
        <p:nvPicPr>
          <p:cNvPr id="3076" name="Picture 4" descr="NIH 3D">
            <a:extLst>
              <a:ext uri="{FF2B5EF4-FFF2-40B4-BE49-F238E27FC236}">
                <a16:creationId xmlns:a16="http://schemas.microsoft.com/office/drawing/2014/main" id="{EBB03956-C85C-C17F-1D2E-4B911A0D0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2193" y="125730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71500" y="571500"/>
            <a:ext cx="5550693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Creating New Medicines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71500" y="1981200"/>
            <a:ext cx="5286375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7655" y="691763"/>
            <a:ext cx="4542845" cy="579973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571500" y="2203119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Faster Drug Discovery</a:t>
            </a:r>
            <a:endParaRPr dirty="0"/>
          </a:p>
        </p:txBody>
      </p:sp>
      <p:sp>
        <p:nvSpPr>
          <p:cNvPr id="175" name="Google Shape;175;p19"/>
          <p:cNvSpPr txBox="1"/>
          <p:nvPr/>
        </p:nvSpPr>
        <p:spPr>
          <a:xfrm>
            <a:off x="571500" y="2785605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Inventing a new medicine usually takes 10-15 years and billions of dollars because scientists have to test millions of chemical combinations manually.</a:t>
            </a:r>
            <a:endParaRPr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571499" y="4016899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Machine learning simulates these tests on a computer. It can predict which chemical will cure a virus or shrink a tumor, saving years of trial and error.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50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695325" y="2217003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809625" y="2216050"/>
            <a:ext cx="50006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Personalized Medicine: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Instead of "one size fits all" treatments, AI will help doctors tailor medicine exactly to your unique DNA.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95325" y="3412986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09625" y="3412033"/>
            <a:ext cx="50006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Early Detection: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AI can spot the earliest signs of diseases like cancer in your blood long before you feel sick.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95325" y="4608968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809625" y="4608016"/>
            <a:ext cx="50006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Virtual Experiments: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More science will happen inside computer simulations rather than test tubes, speeding up human progress.</a:t>
            </a:r>
            <a:endParaRPr/>
          </a:p>
        </p:txBody>
      </p:sp>
      <p:pic>
        <p:nvPicPr>
          <p:cNvPr id="189" name="Google Shape;18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1050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Future of Healthcare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21E834-02FC-FAED-14EC-4E40F62B06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913"/>
          <a:stretch>
            <a:fillRect/>
          </a:stretch>
        </p:blipFill>
        <p:spPr>
          <a:xfrm>
            <a:off x="372949" y="602311"/>
            <a:ext cx="11446101" cy="565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7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ECB7F8-6134-EA51-9DFB-55A8585F8AF4}"/>
              </a:ext>
            </a:extLst>
          </p:cNvPr>
          <p:cNvGraphicFramePr>
            <a:graphicFrameLocks noGrp="1"/>
          </p:cNvGraphicFramePr>
          <p:nvPr/>
        </p:nvGraphicFramePr>
        <p:xfrm>
          <a:off x="882594" y="1129084"/>
          <a:ext cx="9780105" cy="520015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260035">
                  <a:extLst>
                    <a:ext uri="{9D8B030D-6E8A-4147-A177-3AD203B41FA5}">
                      <a16:colId xmlns:a16="http://schemas.microsoft.com/office/drawing/2014/main" val="2996161286"/>
                    </a:ext>
                  </a:extLst>
                </a:gridCol>
                <a:gridCol w="3260035">
                  <a:extLst>
                    <a:ext uri="{9D8B030D-6E8A-4147-A177-3AD203B41FA5}">
                      <a16:colId xmlns:a16="http://schemas.microsoft.com/office/drawing/2014/main" val="4273173019"/>
                    </a:ext>
                  </a:extLst>
                </a:gridCol>
                <a:gridCol w="3260035">
                  <a:extLst>
                    <a:ext uri="{9D8B030D-6E8A-4147-A177-3AD203B41FA5}">
                      <a16:colId xmlns:a16="http://schemas.microsoft.com/office/drawing/2014/main" val="3790172803"/>
                    </a:ext>
                  </a:extLst>
                </a:gridCol>
              </a:tblGrid>
              <a:tr h="866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Package /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Compatible With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8117594"/>
                  </a:ext>
                </a:extLst>
              </a:tr>
              <a:tr h="866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ESM-2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Protein Function &amp; 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PyTorch, Biopython (FASTA)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66750"/>
                  </a:ext>
                </a:extLst>
              </a:tr>
              <a:tr h="866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Graphein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Protein 3D Structures/Graphs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PyTorch Geometric, Bio.PDB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9781906"/>
                  </a:ext>
                </a:extLst>
              </a:tr>
              <a:tr h="866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ProtT5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Functional Annotation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Hugging Face, Biopython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141025"/>
                  </a:ext>
                </a:extLst>
              </a:tr>
              <a:tr h="866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Selene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Genomic Variant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PyTorch, Bio.SeqIO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1270290"/>
                  </a:ext>
                </a:extLst>
              </a:tr>
              <a:tr h="866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DeepChem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Drug-Target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Scikit-Learn, TensorFlow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16677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E5D3D39-DEE0-7323-E79D-56F759B40CE7}"/>
              </a:ext>
            </a:extLst>
          </p:cNvPr>
          <p:cNvSpPr txBox="1"/>
          <p:nvPr/>
        </p:nvSpPr>
        <p:spPr>
          <a:xfrm>
            <a:off x="2782957" y="580445"/>
            <a:ext cx="55393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ML models and packages to implement in bioinformatics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271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1CF06E-4E43-0FD6-9AE6-15E30C4CB8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74"/>
          <a:stretch>
            <a:fillRect/>
          </a:stretch>
        </p:blipFill>
        <p:spPr>
          <a:xfrm>
            <a:off x="165320" y="1409512"/>
            <a:ext cx="5143500" cy="4038975"/>
          </a:xfrm>
          <a:prstGeom prst="rect">
            <a:avLst/>
          </a:prstGeom>
        </p:spPr>
      </p:pic>
      <p:pic>
        <p:nvPicPr>
          <p:cNvPr id="4098" name="Picture 2" descr="Details are in the caption following the image">
            <a:extLst>
              <a:ext uri="{FF2B5EF4-FFF2-40B4-BE49-F238E27FC236}">
                <a16:creationId xmlns:a16="http://schemas.microsoft.com/office/drawing/2014/main" id="{710F6A1F-E8CF-34AC-58E1-DDE57DE0E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813" y="0"/>
            <a:ext cx="67071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3363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E6782-C214-BD00-66C0-FF1FFD15A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03E6E-8802-39B4-4F41-F60328036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57800" cy="7267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1.Stucture Prediction(</a:t>
            </a:r>
            <a:r>
              <a:rPr lang="en-US" dirty="0" err="1"/>
              <a:t>EsmFold</a:t>
            </a:r>
            <a:r>
              <a:rPr lang="en-US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BC2BF-C727-58DA-52DD-B02975CC4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673379" cy="9414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2.Drug_receptor binding(</a:t>
            </a:r>
            <a:r>
              <a:rPr lang="en-US" dirty="0" err="1"/>
              <a:t>py</a:t>
            </a:r>
            <a:r>
              <a:rPr lang="en-US" dirty="0"/>
              <a:t>-torch)</a:t>
            </a:r>
          </a:p>
          <a:p>
            <a:endParaRPr lang="en-US" dirty="0"/>
          </a:p>
        </p:txBody>
      </p:sp>
      <p:pic>
        <p:nvPicPr>
          <p:cNvPr id="6146" name="Picture 2" descr="ESMFold">
            <a:extLst>
              <a:ext uri="{FF2B5EF4-FFF2-40B4-BE49-F238E27FC236}">
                <a16:creationId xmlns:a16="http://schemas.microsoft.com/office/drawing/2014/main" id="{E5C9BC98-E0CC-E57A-782D-2DC90AE84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857" y="2941404"/>
            <a:ext cx="3577618" cy="2728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AI predicts 3D structures of receptors for drug development">
            <a:extLst>
              <a:ext uri="{FF2B5EF4-FFF2-40B4-BE49-F238E27FC236}">
                <a16:creationId xmlns:a16="http://schemas.microsoft.com/office/drawing/2014/main" id="{7EE71AC8-B3F4-2E60-8A5E-BD3D7B001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183" y="3016527"/>
            <a:ext cx="4341412" cy="2442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38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5EC1C-2BA3-4377-48CF-966BB48D1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endParaRPr lang="en-US" dirty="0"/>
          </a:p>
        </p:txBody>
      </p:sp>
      <p:pic>
        <p:nvPicPr>
          <p:cNvPr id="3074" name="Picture 2" descr="Protein Structure Prediction : A Primer (Part 5) | by Siddhant Rai | Medium">
            <a:extLst>
              <a:ext uri="{FF2B5EF4-FFF2-40B4-BE49-F238E27FC236}">
                <a16:creationId xmlns:a16="http://schemas.microsoft.com/office/drawing/2014/main" id="{42FF99DF-2FE3-551D-D2B7-E57F4C5CC0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222" y="1825625"/>
            <a:ext cx="1031355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CFCA3E-7F80-90AF-1F73-1D6BFD4F401D}"/>
              </a:ext>
            </a:extLst>
          </p:cNvPr>
          <p:cNvSpPr txBox="1"/>
          <p:nvPr/>
        </p:nvSpPr>
        <p:spPr>
          <a:xfrm>
            <a:off x="5025225" y="1204159"/>
            <a:ext cx="4353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https://esmatlas.com/resources?action=fold</a:t>
            </a:r>
          </a:p>
        </p:txBody>
      </p:sp>
    </p:spTree>
    <p:extLst>
      <p:ext uri="{BB962C8B-B14F-4D97-AF65-F5344CB8AC3E}">
        <p14:creationId xmlns:p14="http://schemas.microsoft.com/office/powerpoint/2010/main" val="3452193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D9F1021-2F9F-CB62-34F7-F4CAD4A25A2A}"/>
              </a:ext>
            </a:extLst>
          </p:cNvPr>
          <p:cNvSpPr txBox="1"/>
          <p:nvPr/>
        </p:nvSpPr>
        <p:spPr>
          <a:xfrm>
            <a:off x="623514" y="590058"/>
            <a:ext cx="5594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Drug_receptor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 binding Model 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EB4F7E6-DFD6-F908-246D-CF3905FA0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220" y="1844703"/>
            <a:ext cx="3146545" cy="43322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[ Data Collection ]</a:t>
            </a:r>
          </a:p>
          <a:p>
            <a:pPr marL="0" indent="0">
              <a:buNone/>
            </a:pPr>
            <a:r>
              <a:rPr lang="en-US" dirty="0"/>
              <a:t>        ↓</a:t>
            </a:r>
          </a:p>
          <a:p>
            <a:pPr marL="0" indent="0">
              <a:buNone/>
            </a:pPr>
            <a:r>
              <a:rPr lang="en-US" dirty="0"/>
              <a:t>[ Feature Extraction ]</a:t>
            </a:r>
          </a:p>
          <a:p>
            <a:pPr marL="0" indent="0">
              <a:buNone/>
            </a:pPr>
            <a:r>
              <a:rPr lang="en-US" dirty="0"/>
              <a:t>        ↓</a:t>
            </a:r>
          </a:p>
          <a:p>
            <a:pPr marL="0" indent="0">
              <a:buNone/>
            </a:pPr>
            <a:r>
              <a:rPr lang="en-US" dirty="0"/>
              <a:t>[ Train Model ]</a:t>
            </a:r>
          </a:p>
          <a:p>
            <a:pPr marL="0" indent="0">
              <a:buNone/>
            </a:pPr>
            <a:r>
              <a:rPr lang="en-US" dirty="0"/>
              <a:t>        ↓</a:t>
            </a:r>
          </a:p>
          <a:p>
            <a:pPr marL="0" indent="0">
              <a:buNone/>
            </a:pPr>
            <a:r>
              <a:rPr lang="en-US" dirty="0"/>
              <a:t>[ Evaluate Model ]</a:t>
            </a:r>
          </a:p>
          <a:p>
            <a:pPr marL="0" indent="0">
              <a:buNone/>
            </a:pPr>
            <a:r>
              <a:rPr lang="en-US" dirty="0"/>
              <a:t>        ↓</a:t>
            </a:r>
          </a:p>
          <a:p>
            <a:pPr marL="0" indent="0">
              <a:buNone/>
            </a:pPr>
            <a:r>
              <a:rPr lang="en-US" dirty="0"/>
              <a:t>[ Interpretation ]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D26E3EC-A6BA-817B-2820-0E4816150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475" y="1574084"/>
            <a:ext cx="8055038" cy="460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152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4000" dirty="0">
                <a:latin typeface="Comic Sans MS"/>
                <a:ea typeface="Comic Sans MS"/>
                <a:cs typeface="Comic Sans MS"/>
                <a:sym typeface="Comic Sans MS"/>
              </a:rPr>
              <a:t>•Design an end‑to‑end biological ML workflow</a:t>
            </a:r>
            <a:endParaRPr sz="4000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>
              <a:lnSpc>
                <a:spcPct val="115000"/>
              </a:lnSpc>
            </a:pPr>
            <a:endParaRPr sz="3200" b="1" dirty="0">
              <a:solidFill>
                <a:schemeClr val="accent3"/>
              </a:solidFill>
            </a:endParaRPr>
          </a:p>
          <a:p>
            <a:pPr>
              <a:lnSpc>
                <a:spcPct val="115000"/>
              </a:lnSpc>
            </a:pPr>
            <a:endParaRPr sz="3200" b="1" dirty="0">
              <a:solidFill>
                <a:schemeClr val="accent3"/>
              </a:solidFill>
            </a:endParaRPr>
          </a:p>
          <a:p>
            <a:pPr>
              <a:lnSpc>
                <a:spcPct val="115000"/>
              </a:lnSpc>
            </a:pPr>
            <a:endParaRPr sz="3200" b="1" dirty="0">
              <a:solidFill>
                <a:schemeClr val="accent3"/>
              </a:solidFill>
            </a:endParaRPr>
          </a:p>
          <a:p>
            <a:endParaRPr sz="40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13" name="Google Shape;113;p26"/>
          <p:cNvCxnSpPr>
            <a:stCxn id="114" idx="2"/>
            <a:endCxn id="115" idx="0"/>
          </p:cNvCxnSpPr>
          <p:nvPr/>
        </p:nvCxnSpPr>
        <p:spPr>
          <a:xfrm rot="-5400000" flipH="1">
            <a:off x="6857533" y="1841900"/>
            <a:ext cx="1471200" cy="3528800"/>
          </a:xfrm>
          <a:prstGeom prst="bentConnector3">
            <a:avLst>
              <a:gd name="adj1" fmla="val 50006"/>
            </a:avLst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6" name="Google Shape;116;p26"/>
          <p:cNvCxnSpPr>
            <a:stCxn id="117" idx="0"/>
            <a:endCxn id="114" idx="2"/>
          </p:cNvCxnSpPr>
          <p:nvPr/>
        </p:nvCxnSpPr>
        <p:spPr>
          <a:xfrm rot="-5400000">
            <a:off x="3558900" y="2072433"/>
            <a:ext cx="1471600" cy="3068000"/>
          </a:xfrm>
          <a:prstGeom prst="bentConnector3">
            <a:avLst>
              <a:gd name="adj1" fmla="val 49998"/>
            </a:avLst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4" name="Google Shape;114;p26"/>
          <p:cNvSpPr txBox="1"/>
          <p:nvPr/>
        </p:nvSpPr>
        <p:spPr>
          <a:xfrm>
            <a:off x="3548333" y="1667100"/>
            <a:ext cx="4560800" cy="1203600"/>
          </a:xfrm>
          <a:prstGeom prst="rect">
            <a:avLst/>
          </a:prstGeom>
          <a:noFill/>
          <a:ln w="19050" cap="flat" cmpd="sng">
            <a:solidFill>
              <a:srgbClr val="A729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2533" b="1">
                <a:solidFill>
                  <a:schemeClr val="accent3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Convert raw sequences into structured features</a:t>
            </a:r>
            <a:endParaRPr sz="1467">
              <a:solidFill>
                <a:srgbClr val="A7291E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7" name="Google Shape;117;p26"/>
          <p:cNvSpPr txBox="1"/>
          <p:nvPr/>
        </p:nvSpPr>
        <p:spPr>
          <a:xfrm>
            <a:off x="1273500" y="4342233"/>
            <a:ext cx="2974400" cy="1651200"/>
          </a:xfrm>
          <a:prstGeom prst="rect">
            <a:avLst/>
          </a:prstGeom>
          <a:noFill/>
          <a:ln w="19050" cap="flat" cmpd="sng">
            <a:solidFill>
              <a:srgbClr val="A729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2400" b="1">
                <a:solidFill>
                  <a:schemeClr val="accent3"/>
                </a:solidFill>
                <a:latin typeface="Comic Sans MS"/>
                <a:ea typeface="Comic Sans MS"/>
                <a:cs typeface="Comic Sans MS"/>
                <a:sym typeface="Comic Sans MS"/>
              </a:rPr>
              <a:t>Build clustering and classification models</a:t>
            </a:r>
            <a:endParaRPr sz="1067">
              <a:solidFill>
                <a:srgbClr val="A7291E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5" name="Google Shape;115;p26"/>
          <p:cNvSpPr txBox="1"/>
          <p:nvPr/>
        </p:nvSpPr>
        <p:spPr>
          <a:xfrm>
            <a:off x="7825200" y="4342067"/>
            <a:ext cx="3064400" cy="1651200"/>
          </a:xfrm>
          <a:prstGeom prst="rect">
            <a:avLst/>
          </a:prstGeom>
          <a:noFill/>
          <a:ln w="19050" cap="flat" cmpd="sng">
            <a:solidFill>
              <a:srgbClr val="A729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2533" b="1">
                <a:solidFill>
                  <a:schemeClr val="accent3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Interpret model output biologically</a:t>
            </a:r>
            <a:endParaRPr sz="1200">
              <a:solidFill>
                <a:srgbClr val="A7291E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8" name="Google Shape;118;p26" descr="File:Double-stranded DNA sequence.sv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867" y="1560634"/>
            <a:ext cx="2263764" cy="2263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6" descr="File:Chatbot img.png - Wikipedia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60733" y="1560167"/>
            <a:ext cx="2428067" cy="2428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6" descr="Ph.D. thesis - Matthias Scholz - Max Planck Institute of Molecular ..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6551" y="4054700"/>
            <a:ext cx="2540000" cy="2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>
            <a:spLocks noGrp="1"/>
          </p:cNvSpPr>
          <p:nvPr>
            <p:ph type="title"/>
          </p:nvPr>
        </p:nvSpPr>
        <p:spPr>
          <a:xfrm>
            <a:off x="415600" y="370333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sz="5067" dirty="0">
                <a:solidFill>
                  <a:srgbClr val="000000"/>
                </a:solidFill>
              </a:rPr>
              <a:t>Examples of Real Research Questions</a:t>
            </a:r>
            <a:endParaRPr sz="4000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338C1F4B-585F-100B-FAB7-1D56670F4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027" y="1601338"/>
            <a:ext cx="4416973" cy="441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Google Shape;132;p28"/>
          <p:cNvSpPr txBox="1">
            <a:spLocks noGrp="1"/>
          </p:cNvSpPr>
          <p:nvPr>
            <p:ph type="body" idx="1"/>
          </p:nvPr>
        </p:nvSpPr>
        <p:spPr>
          <a:xfrm>
            <a:off x="734049" y="1788311"/>
            <a:ext cx="8928567" cy="4230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Bef>
                <a:spcPts val="1067"/>
              </a:spcBef>
              <a:buNone/>
            </a:pPr>
            <a:r>
              <a:rPr lang="en" sz="3200" dirty="0">
                <a:solidFill>
                  <a:srgbClr val="000000"/>
                </a:solidFill>
              </a:rPr>
              <a:t>Are certain mutations increasing over time?</a:t>
            </a:r>
            <a:endParaRPr sz="3200" dirty="0">
              <a:solidFill>
                <a:srgbClr val="000000"/>
              </a:solidFill>
            </a:endParaRPr>
          </a:p>
          <a:p>
            <a:pPr marL="16933" indent="0">
              <a:spcBef>
                <a:spcPts val="933"/>
              </a:spcBef>
              <a:buNone/>
            </a:pPr>
            <a:r>
              <a:rPr lang="en" sz="3200" dirty="0">
                <a:solidFill>
                  <a:srgbClr val="000000"/>
                </a:solidFill>
              </a:rPr>
              <a:t>1.Can mutation patterns predict collection year?</a:t>
            </a:r>
            <a:endParaRPr sz="3200" dirty="0">
              <a:solidFill>
                <a:srgbClr val="000000"/>
              </a:solidFill>
            </a:endParaRPr>
          </a:p>
          <a:p>
            <a:pPr marL="16933" indent="0">
              <a:spcBef>
                <a:spcPts val="933"/>
              </a:spcBef>
              <a:buNone/>
            </a:pPr>
            <a:r>
              <a:rPr lang="en" sz="3200" dirty="0">
                <a:solidFill>
                  <a:srgbClr val="000000"/>
                </a:solidFill>
              </a:rPr>
              <a:t>2.Do samples form natural genetic clusters?</a:t>
            </a:r>
            <a:endParaRPr sz="3200" dirty="0">
              <a:solidFill>
                <a:srgbClr val="000000"/>
              </a:solidFill>
            </a:endParaRPr>
          </a:p>
          <a:p>
            <a:pPr marL="16933" indent="0">
              <a:spcBef>
                <a:spcPts val="933"/>
              </a:spcBef>
              <a:buNone/>
            </a:pPr>
            <a:r>
              <a:rPr lang="en" sz="3200" dirty="0">
                <a:solidFill>
                  <a:srgbClr val="000000"/>
                </a:solidFill>
              </a:rPr>
              <a:t>3.Which genomic regions drive divergence?</a:t>
            </a:r>
            <a:endParaRPr sz="3200" dirty="0">
              <a:solidFill>
                <a:srgbClr val="000000"/>
              </a:solidFill>
            </a:endParaRPr>
          </a:p>
          <a:p>
            <a:pPr marL="0" indent="0">
              <a:spcAft>
                <a:spcPts val="2133"/>
              </a:spcAft>
              <a:buNone/>
            </a:pPr>
            <a:endParaRPr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 txBox="1">
            <a:spLocks noGrp="1"/>
          </p:cNvSpPr>
          <p:nvPr>
            <p:ph type="title"/>
          </p:nvPr>
        </p:nvSpPr>
        <p:spPr>
          <a:xfrm>
            <a:off x="354000" y="1607767"/>
            <a:ext cx="5393600" cy="201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sz="5867">
                <a:solidFill>
                  <a:srgbClr val="000000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Translating Biology into Algorithms</a:t>
            </a:r>
            <a:endParaRPr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38" name="Google Shape;138;p29"/>
          <p:cNvSpPr txBox="1">
            <a:spLocks noGrp="1"/>
          </p:cNvSpPr>
          <p:nvPr>
            <p:ph type="subTitle" idx="1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/>
              <a:t>Each scientist uses different methods of experimentation</a:t>
            </a:r>
            <a:endParaRPr/>
          </a:p>
        </p:txBody>
      </p:sp>
      <p:sp>
        <p:nvSpPr>
          <p:cNvPr id="139" name="Google Shape;139;p2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spcBef>
                <a:spcPts val="1067"/>
              </a:spcBef>
            </a:pPr>
            <a:r>
              <a:rPr lang="en">
                <a:latin typeface="Proxima Nova Semibold"/>
                <a:ea typeface="Proxima Nova Semibold"/>
                <a:cs typeface="Proxima Nova Semibold"/>
                <a:sym typeface="Proxima Nova Semibold"/>
              </a:rPr>
              <a:t>Mutation presence → Binary features</a:t>
            </a:r>
            <a:endParaRPr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>
              <a:buFont typeface="Proxima Nova Semibold"/>
              <a:buChar char="●"/>
            </a:pPr>
            <a:r>
              <a:rPr lang="en">
                <a:latin typeface="Proxima Nova Semibold"/>
                <a:ea typeface="Proxima Nova Semibold"/>
                <a:cs typeface="Proxima Nova Semibold"/>
                <a:sym typeface="Proxima Nova Semibold"/>
              </a:rPr>
              <a:t>Expression levels → Numerical features</a:t>
            </a:r>
            <a:endParaRPr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>
              <a:buFont typeface="Proxima Nova Semibold"/>
              <a:buChar char="●"/>
            </a:pPr>
            <a:r>
              <a:rPr lang="en">
                <a:latin typeface="Proxima Nova Semibold"/>
                <a:ea typeface="Proxima Nova Semibold"/>
                <a:cs typeface="Proxima Nova Semibold"/>
                <a:sym typeface="Proxima Nova Semibold"/>
              </a:rPr>
              <a:t>Protein sequences → Encoded vectors</a:t>
            </a:r>
            <a:endParaRPr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>
              <a:buFont typeface="Proxima Nova Semibold"/>
              <a:buChar char="●"/>
            </a:pPr>
            <a:r>
              <a:rPr lang="en">
                <a:latin typeface="Proxima Nova Semibold"/>
                <a:ea typeface="Proxima Nova Semibold"/>
                <a:cs typeface="Proxima Nova Semibold"/>
                <a:sym typeface="Proxima Nova Semibold"/>
              </a:rPr>
              <a:t>Time or phenotype → Target variable</a:t>
            </a:r>
            <a:endParaRPr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>
              <a:spcAft>
                <a:spcPts val="2133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>
            <a:spLocks noGrp="1"/>
          </p:cNvSpPr>
          <p:nvPr>
            <p:ph type="title"/>
          </p:nvPr>
        </p:nvSpPr>
        <p:spPr>
          <a:xfrm>
            <a:off x="362021" y="2482061"/>
            <a:ext cx="5393600" cy="201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sz="4933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Choosing the Right Type of Model</a:t>
            </a:r>
            <a:endParaRPr sz="4667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B5172-723F-CE53-5036-BE85AB9DD4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15" r="10975"/>
          <a:stretch>
            <a:fillRect/>
          </a:stretch>
        </p:blipFill>
        <p:spPr>
          <a:xfrm>
            <a:off x="6673517" y="1409474"/>
            <a:ext cx="4853505" cy="403905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1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730000" cy="545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sz="5867" b="1">
                <a:solidFill>
                  <a:srgbClr val="000000"/>
                </a:solidFill>
              </a:rPr>
              <a:t>How to Extend This Framework</a:t>
            </a:r>
            <a:endParaRPr sz="5867" b="1"/>
          </a:p>
        </p:txBody>
      </p:sp>
      <p:sp>
        <p:nvSpPr>
          <p:cNvPr id="151" name="Google Shape;151;p31"/>
          <p:cNvSpPr txBox="1"/>
          <p:nvPr/>
        </p:nvSpPr>
        <p:spPr>
          <a:xfrm>
            <a:off x="7718867" y="2100900"/>
            <a:ext cx="4034400" cy="2980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6933">
              <a:lnSpc>
                <a:spcPct val="115000"/>
              </a:lnSpc>
              <a:spcBef>
                <a:spcPts val="933"/>
              </a:spcBef>
            </a:pPr>
            <a:r>
              <a:rPr lang="en" sz="2133" b="1">
                <a:latin typeface="Merriweather"/>
                <a:ea typeface="Merriweather"/>
                <a:cs typeface="Merriweather"/>
                <a:sym typeface="Merriweather"/>
              </a:rPr>
              <a:t>–Apply workflow to gene expression datasets</a:t>
            </a:r>
            <a:endParaRPr sz="2133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16933">
              <a:lnSpc>
                <a:spcPct val="115000"/>
              </a:lnSpc>
              <a:spcBef>
                <a:spcPts val="933"/>
              </a:spcBef>
            </a:pPr>
            <a:r>
              <a:rPr lang="en" sz="2133" b="1">
                <a:latin typeface="Merriweather"/>
                <a:ea typeface="Merriweather"/>
                <a:cs typeface="Merriweather"/>
                <a:sym typeface="Merriweather"/>
              </a:rPr>
              <a:t>–Scale analysis to thousands of genomes</a:t>
            </a:r>
            <a:endParaRPr sz="2133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16933">
              <a:lnSpc>
                <a:spcPct val="115000"/>
              </a:lnSpc>
              <a:spcBef>
                <a:spcPts val="933"/>
              </a:spcBef>
            </a:pPr>
            <a:r>
              <a:rPr lang="en" sz="2133" b="1">
                <a:latin typeface="Merriweather"/>
                <a:ea typeface="Merriweather"/>
                <a:cs typeface="Merriweather"/>
                <a:sym typeface="Merriweather"/>
              </a:rPr>
              <a:t>–Combine multiple data types in one model</a:t>
            </a:r>
            <a:endParaRPr sz="2133" b="1">
              <a:latin typeface="Merriweather"/>
              <a:ea typeface="Merriweather"/>
              <a:cs typeface="Merriweather"/>
              <a:sym typeface="Merriweather"/>
            </a:endParaRPr>
          </a:p>
          <a:p>
            <a:endParaRPr sz="800" b="1">
              <a:solidFill>
                <a:schemeClr val="accent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 txBox="1">
            <a:spLocks noGrp="1"/>
          </p:cNvSpPr>
          <p:nvPr>
            <p:ph type="title"/>
          </p:nvPr>
        </p:nvSpPr>
        <p:spPr>
          <a:xfrm>
            <a:off x="787467" y="1816933"/>
            <a:ext cx="3474400" cy="341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lnSpc>
                <a:spcPct val="115000"/>
              </a:lnSpc>
              <a:spcBef>
                <a:spcPts val="1600"/>
              </a:spcBef>
            </a:pPr>
            <a:endParaRPr sz="14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6FE7C3-D971-EB76-E2FF-CBAE72C82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61" y="1415500"/>
            <a:ext cx="5360392" cy="35735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17FD60-541A-AC36-0F85-72FFAE49F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16" y="1339516"/>
            <a:ext cx="5474368" cy="3649579"/>
          </a:xfrm>
          <a:prstGeom prst="rect">
            <a:avLst/>
          </a:prstGeom>
        </p:spPr>
      </p:pic>
      <p:sp>
        <p:nvSpPr>
          <p:cNvPr id="6" name="Google Shape;162;p33">
            <a:extLst>
              <a:ext uri="{FF2B5EF4-FFF2-40B4-BE49-F238E27FC236}">
                <a16:creationId xmlns:a16="http://schemas.microsoft.com/office/drawing/2014/main" id="{D07EC2BC-1D6D-0233-68E4-383B0E5245A2}"/>
              </a:ext>
            </a:extLst>
          </p:cNvPr>
          <p:cNvSpPr txBox="1">
            <a:spLocks/>
          </p:cNvSpPr>
          <p:nvPr/>
        </p:nvSpPr>
        <p:spPr>
          <a:xfrm>
            <a:off x="270633" y="258833"/>
            <a:ext cx="5446000" cy="13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r>
              <a:rPr lang="en-US" sz="2400" b="1" dirty="0"/>
              <a:t>AI Model frameworks: </a:t>
            </a:r>
            <a:endParaRPr lang="en-US" sz="48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1A9ED8-B60D-E32A-7527-D77EDDB04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47" y="328864"/>
            <a:ext cx="3759200" cy="5638800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422A720-3045-DD94-1942-36AA45B54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401" y="222900"/>
            <a:ext cx="3759201" cy="2693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E202DE-2A9D-6831-6BD8-8BFEA4F4E050}"/>
              </a:ext>
            </a:extLst>
          </p:cNvPr>
          <p:cNvSpPr txBox="1"/>
          <p:nvPr/>
        </p:nvSpPr>
        <p:spPr>
          <a:xfrm>
            <a:off x="9954126" y="481263"/>
            <a:ext cx="1239635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67" dirty="0"/>
              <a:t>Breast Cancer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2C3788-44C0-CA3A-D6A2-FD721ACA30E0}"/>
              </a:ext>
            </a:extLst>
          </p:cNvPr>
          <p:cNvSpPr txBox="1"/>
          <p:nvPr/>
        </p:nvSpPr>
        <p:spPr>
          <a:xfrm>
            <a:off x="5791200" y="3053384"/>
            <a:ext cx="60960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67" dirty="0"/>
              <a:t>Tumor vs normal tissue classification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242C457E-DEFD-F012-8068-2C83E6E90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908" y="3501846"/>
            <a:ext cx="3678693" cy="2791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325411-1EEF-49A0-704F-91CDB4514D54}"/>
              </a:ext>
            </a:extLst>
          </p:cNvPr>
          <p:cNvSpPr txBox="1"/>
          <p:nvPr/>
        </p:nvSpPr>
        <p:spPr>
          <a:xfrm>
            <a:off x="9737558" y="4723103"/>
            <a:ext cx="1119730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67" dirty="0"/>
              <a:t>Brain Tumor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C8818E-1BFC-30DE-F062-B7AF194525EE}"/>
              </a:ext>
            </a:extLst>
          </p:cNvPr>
          <p:cNvSpPr txBox="1"/>
          <p:nvPr/>
        </p:nvSpPr>
        <p:spPr>
          <a:xfrm>
            <a:off x="6352674" y="6293172"/>
            <a:ext cx="1389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Tumor grading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C4B45-5DE2-E8F6-847A-7535CDF12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1257300"/>
            <a:ext cx="2909207" cy="3972606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sz="2000" dirty="0"/>
              <a:t>AI = Brain</a:t>
            </a:r>
            <a:br>
              <a:rPr lang="en-US" sz="2000" dirty="0"/>
            </a:br>
            <a:r>
              <a:rPr lang="en-US" sz="2000" dirty="0"/>
              <a:t>ML Model = Pattern Recognition Engine</a:t>
            </a:r>
            <a:br>
              <a:rPr lang="en-US" sz="2000" dirty="0"/>
            </a:br>
            <a:r>
              <a:rPr lang="en-US" sz="2000" dirty="0"/>
              <a:t>Rules = Logic System</a:t>
            </a:r>
            <a:br>
              <a:rPr lang="en-US" sz="2000" dirty="0"/>
            </a:br>
            <a:r>
              <a:rPr lang="en-US" sz="2000" dirty="0"/>
              <a:t>Data Pipeline = Nervous System</a:t>
            </a:r>
            <a:br>
              <a:rPr lang="en-US" sz="2000" dirty="0"/>
            </a:br>
            <a:r>
              <a:rPr lang="en-US" sz="2000" dirty="0"/>
              <a:t>UI = Face of AI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E877C3-5BCC-B884-EB79-EE6287059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365" y="1124404"/>
            <a:ext cx="7209064" cy="480604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69A7075-5440-FE4A-E35B-9D6946F96585}"/>
              </a:ext>
            </a:extLst>
          </p:cNvPr>
          <p:cNvSpPr txBox="1"/>
          <p:nvPr/>
        </p:nvSpPr>
        <p:spPr>
          <a:xfrm>
            <a:off x="579664" y="595993"/>
            <a:ext cx="2304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Integration of ML to AI</a:t>
            </a:r>
          </a:p>
        </p:txBody>
      </p:sp>
    </p:spTree>
    <p:extLst>
      <p:ext uri="{BB962C8B-B14F-4D97-AF65-F5344CB8AC3E}">
        <p14:creationId xmlns:p14="http://schemas.microsoft.com/office/powerpoint/2010/main" val="450265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DBA93-AEB1-19EF-8D22-E413B6289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48" y="120084"/>
            <a:ext cx="10515600" cy="1325563"/>
          </a:xfrm>
        </p:spPr>
        <p:txBody>
          <a:bodyPr/>
          <a:lstStyle/>
          <a:p>
            <a:r>
              <a:rPr lang="en-US" dirty="0"/>
              <a:t>AI Tools for Research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2E50EA-C287-8D9C-8379-C7613D6A4A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7985" y="1298088"/>
            <a:ext cx="5809090" cy="38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latin typeface="Arial" panose="020B0604020202020204" pitchFamily="34" charset="0"/>
              </a:rPr>
              <a:t>DeepVariant</a:t>
            </a:r>
            <a:r>
              <a:rPr lang="en-US" altLang="en-US" sz="1800" dirty="0">
                <a:latin typeface="Arial" panose="020B0604020202020204" pitchFamily="34" charset="0"/>
              </a:rPr>
              <a:t> – AI variant calling (genomics)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latin typeface="Arial" panose="020B0604020202020204" pitchFamily="34" charset="0"/>
              </a:rPr>
              <a:t>Enformer</a:t>
            </a:r>
            <a:r>
              <a:rPr lang="en-US" altLang="en-US" sz="1800" dirty="0">
                <a:latin typeface="Arial" panose="020B0604020202020204" pitchFamily="34" charset="0"/>
              </a:rPr>
              <a:t> – Gene regulation prediction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latin typeface="Arial" panose="020B0604020202020204" pitchFamily="34" charset="0"/>
              </a:rPr>
              <a:t>DeepSEA</a:t>
            </a:r>
            <a:r>
              <a:rPr lang="en-US" altLang="en-US" sz="1800" dirty="0">
                <a:latin typeface="Arial" panose="020B0604020202020204" pitchFamily="34" charset="0"/>
              </a:rPr>
              <a:t> – Functional variant effect prediction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latin typeface="Arial" panose="020B0604020202020204" pitchFamily="34" charset="0"/>
              </a:rPr>
              <a:t>ProtBERT</a:t>
            </a:r>
            <a:r>
              <a:rPr lang="en-US" altLang="en-US" sz="1800" dirty="0">
                <a:latin typeface="Arial" panose="020B0604020202020204" pitchFamily="34" charset="0"/>
              </a:rPr>
              <a:t> – Protein language model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latin typeface="Arial" panose="020B0604020202020204" pitchFamily="34" charset="0"/>
              </a:rPr>
              <a:t>AutoDock</a:t>
            </a:r>
            <a:r>
              <a:rPr lang="en-US" altLang="en-US" sz="1800" dirty="0">
                <a:latin typeface="Arial" panose="020B0604020202020204" pitchFamily="34" charset="0"/>
              </a:rPr>
              <a:t>-GPU – AI-accelerated molecular docking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latin typeface="Arial" panose="020B0604020202020204" pitchFamily="34" charset="0"/>
              </a:rPr>
              <a:t>Insilico</a:t>
            </a:r>
            <a:r>
              <a:rPr lang="en-US" altLang="en-US" sz="1800" dirty="0">
                <a:latin typeface="Arial" panose="020B0604020202020204" pitchFamily="34" charset="0"/>
              </a:rPr>
              <a:t> Medicine – Generative AI drug discovery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841611-B799-CD2D-5488-B1ED23A41AEE}"/>
              </a:ext>
            </a:extLst>
          </p:cNvPr>
          <p:cNvSpPr txBox="1"/>
          <p:nvPr/>
        </p:nvSpPr>
        <p:spPr>
          <a:xfrm>
            <a:off x="6096000" y="1724703"/>
            <a:ext cx="5948570" cy="3442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/>
              <a:t>AlphaFold – Protein structure prediction</a:t>
            </a:r>
          </a:p>
          <a:p>
            <a:pPr>
              <a:lnSpc>
                <a:spcPct val="250000"/>
              </a:lnSpc>
            </a:pPr>
            <a:r>
              <a:rPr lang="en-US" dirty="0" err="1"/>
              <a:t>ESMFold</a:t>
            </a:r>
            <a:r>
              <a:rPr lang="en-US" dirty="0"/>
              <a:t> – Fast transformer-based structure prediction</a:t>
            </a:r>
          </a:p>
          <a:p>
            <a:pPr>
              <a:lnSpc>
                <a:spcPct val="250000"/>
              </a:lnSpc>
            </a:pPr>
            <a:r>
              <a:rPr lang="en-US" dirty="0" err="1"/>
              <a:t>RoseTTAFold</a:t>
            </a:r>
            <a:r>
              <a:rPr lang="en-US" dirty="0"/>
              <a:t> – Deep learning protein modeling</a:t>
            </a:r>
          </a:p>
          <a:p>
            <a:pPr>
              <a:lnSpc>
                <a:spcPct val="250000"/>
              </a:lnSpc>
            </a:pPr>
            <a:r>
              <a:rPr lang="en-US" dirty="0" err="1"/>
              <a:t>ColabFold</a:t>
            </a:r>
            <a:r>
              <a:rPr lang="en-US" dirty="0"/>
              <a:t> – Easy cloud-based structure prediction</a:t>
            </a:r>
          </a:p>
          <a:p>
            <a:pPr>
              <a:lnSpc>
                <a:spcPct val="250000"/>
              </a:lnSpc>
            </a:pPr>
            <a:endParaRPr lang="en-US" dirty="0"/>
          </a:p>
        </p:txBody>
      </p:sp>
      <p:pic>
        <p:nvPicPr>
          <p:cNvPr id="5125" name="Picture 5" descr="Southern University Shreveport Louisiana">
            <a:extLst>
              <a:ext uri="{FF2B5EF4-FFF2-40B4-BE49-F238E27FC236}">
                <a16:creationId xmlns:a16="http://schemas.microsoft.com/office/drawing/2014/main" id="{413E202E-8AB7-C9CE-5F62-86A6D4483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0285" y="90488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Cell Biology | Applications">
            <a:extLst>
              <a:ext uri="{FF2B5EF4-FFF2-40B4-BE49-F238E27FC236}">
                <a16:creationId xmlns:a16="http://schemas.microsoft.com/office/drawing/2014/main" id="{F589FE01-291C-6CD2-2E7E-7D5CF6740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64" y="5167312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875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865</Words>
  <Application>Microsoft Office PowerPoint</Application>
  <PresentationFormat>Widescreen</PresentationFormat>
  <Paragraphs>120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Calibri</vt:lpstr>
      <vt:lpstr>Inter</vt:lpstr>
      <vt:lpstr>Bahnschrift Light</vt:lpstr>
      <vt:lpstr>Inter Medium</vt:lpstr>
      <vt:lpstr>Arial</vt:lpstr>
      <vt:lpstr>Comic Sans MS</vt:lpstr>
      <vt:lpstr>Proxima Nova Semibold</vt:lpstr>
      <vt:lpstr>Proxima Nova Extrabold</vt:lpstr>
      <vt:lpstr>Merriweather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 </vt:lpstr>
      <vt:lpstr> </vt:lpstr>
      <vt:lpstr>PowerPoint Presentation</vt:lpstr>
      <vt:lpstr>•Design an end‑to‑end biological ML workflow    </vt:lpstr>
      <vt:lpstr>Examples of Real Research Questions</vt:lpstr>
      <vt:lpstr>Translating Biology into Algorithms</vt:lpstr>
      <vt:lpstr>Choosing the Right Type of Model</vt:lpstr>
      <vt:lpstr>How to Extend This Framework</vt:lpstr>
      <vt:lpstr> </vt:lpstr>
      <vt:lpstr>PowerPoint Presentation</vt:lpstr>
      <vt:lpstr>PowerPoint Presentation</vt:lpstr>
      <vt:lpstr>AI Tools for Research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shiva pawar</cp:lastModifiedBy>
  <cp:revision>1</cp:revision>
  <dcterms:modified xsi:type="dcterms:W3CDTF">2026-05-27T05:17:46Z</dcterms:modified>
</cp:coreProperties>
</file>