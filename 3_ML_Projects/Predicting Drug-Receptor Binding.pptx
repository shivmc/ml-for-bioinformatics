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Montserrat SemiBold"/>
      <p:regular r:id="rId15"/>
      <p:bold r:id="rId16"/>
      <p:italic r:id="rId17"/>
      <p:boldItalic r:id="rId18"/>
    </p:embeddedFont>
    <p:embeddedFont>
      <p:font typeface="Montserrat"/>
      <p:regular r:id="rId19"/>
      <p:bold r:id="rId20"/>
      <p:italic r:id="rId21"/>
      <p:boldItalic r:id="rId22"/>
    </p:embeddedFont>
    <p:embeddedFont>
      <p:font typeface="Open Sans SemiBold"/>
      <p:regular r:id="rId23"/>
      <p:bold r:id="rId24"/>
      <p:italic r:id="rId25"/>
      <p:boldItalic r:id="rId26"/>
    </p:embeddedFont>
    <p:embeddedFont>
      <p:font typeface="Open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italic.fntdata"/><Relationship Id="rId24" Type="http://schemas.openxmlformats.org/officeDocument/2006/relationships/font" Target="fonts/OpenSansSemiBold-bold.fntdata"/><Relationship Id="rId23" Type="http://schemas.openxmlformats.org/officeDocument/2006/relationships/font" Target="fonts/OpenSansSemiBo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SemiBold-boldItalic.fntdata"/><Relationship Id="rId25" Type="http://schemas.openxmlformats.org/officeDocument/2006/relationships/font" Target="fonts/OpenSansSemiBold-italic.fntdata"/><Relationship Id="rId28" Type="http://schemas.openxmlformats.org/officeDocument/2006/relationships/font" Target="fonts/OpenSans-bold.fntdata"/><Relationship Id="rId27" Type="http://schemas.openxmlformats.org/officeDocument/2006/relationships/font" Target="fonts/OpenSa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Open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MontserratSemiBold-regular.fntdata"/><Relationship Id="rId14" Type="http://schemas.openxmlformats.org/officeDocument/2006/relationships/slide" Target="slides/slide9.xml"/><Relationship Id="rId17" Type="http://schemas.openxmlformats.org/officeDocument/2006/relationships/font" Target="fonts/MontserratSemiBold-italic.fntdata"/><Relationship Id="rId16" Type="http://schemas.openxmlformats.org/officeDocument/2006/relationships/font" Target="fonts/MontserratSemiBold-bold.fntdata"/><Relationship Id="rId19" Type="http://schemas.openxmlformats.org/officeDocument/2006/relationships/font" Target="fonts/Montserrat-regular.fntdata"/><Relationship Id="rId18" Type="http://schemas.openxmlformats.org/officeDocument/2006/relationships/font" Target="fonts/MontserratSemiBol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13.png"/><Relationship Id="rId8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9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17.png"/><Relationship Id="rId7" Type="http://schemas.openxmlformats.org/officeDocument/2006/relationships/image" Target="../media/image7.png"/><Relationship Id="rId8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6.png"/><Relationship Id="rId5" Type="http://schemas.openxmlformats.org/officeDocument/2006/relationships/image" Target="../media/image18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image" Target="../media/image26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1910804"/>
            <a:ext cx="5550693" cy="1462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Predicting Drug Binding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659534"/>
            <a:ext cx="5286375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Building a Machine Learning Model to Classify Synthetic Molecules based on Physicochemical &amp; Receptor Pocket Features</a:t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52612"/>
            <a:ext cx="3429000" cy="4162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1852612"/>
            <a:ext cx="3429000" cy="4162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1852612"/>
            <a:ext cx="3429000" cy="41624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1150858" y="3205162"/>
            <a:ext cx="227028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284C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numpy &amp; pandas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66775" y="3652837"/>
            <a:ext cx="28384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Foundational libraries handling data generation. Used to synthesize 500 drug molecules and construct feature arrays for training.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4680823" y="3205162"/>
            <a:ext cx="283035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284C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matplotlib &amp; seaborn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4676775" y="3652837"/>
            <a:ext cx="283845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Powerful visualization tools employed to plot data distributions, confusion matrices, and feature importance to interpret model behavior.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150905" y="3205162"/>
            <a:ext cx="151018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284C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scikit-learn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486775" y="3652837"/>
            <a:ext cx="28384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The core machine learning engine. Provides robust algorithms for classification tasks and built-in evaluation metric tools.</a:t>
            </a:r>
            <a:endParaRPr/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52637" y="2347912"/>
            <a:ext cx="466725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29300" y="2347912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72625" y="2347912"/>
            <a:ext cx="66675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Technology Stack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571500" y="11811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71500" y="1804987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To train our model, we construct a robust dataset that closely mimics real-world pharmaceutical parameters.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57250" y="255746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Dataset Size: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Generation of exactly 500 synthetic drug molecules.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57250" y="3357562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Feature Extraction: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Incorporating crucial physicochemical properties (e.g., LogP, molecular weight).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57250" y="446246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Receptor Data: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Simulating targeted protein pocket features directly linked to docking.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57250" y="526256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Distributions: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All data parameters are mathematically engineered to mimic realistic drug-like distributions.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571500" y="2614612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0B981"/>
                </a:solidFill>
                <a:latin typeface="Open Sans"/>
                <a:ea typeface="Open Sans"/>
                <a:cs typeface="Open Sans"/>
                <a:sym typeface="Open Sans"/>
              </a:rPr>
              <a:t>■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571500" y="3414712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0B981"/>
                </a:solidFill>
                <a:latin typeface="Open Sans"/>
                <a:ea typeface="Open Sans"/>
                <a:cs typeface="Open Sans"/>
                <a:sym typeface="Open Sans"/>
              </a:rPr>
              <a:t>■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571500" y="4519612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0B981"/>
                </a:solidFill>
                <a:latin typeface="Open Sans"/>
                <a:ea typeface="Open Sans"/>
                <a:cs typeface="Open Sans"/>
                <a:sym typeface="Open Sans"/>
              </a:rPr>
              <a:t>■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571500" y="5319712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0B981"/>
                </a:solidFill>
                <a:latin typeface="Open Sans"/>
                <a:ea typeface="Open Sans"/>
                <a:cs typeface="Open Sans"/>
                <a:sym typeface="Open Sans"/>
              </a:rPr>
              <a:t>■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Synthetic Data Prep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571500" y="11811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62775" y="2786050"/>
            <a:ext cx="4747846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03549"/>
            <a:ext cx="5238750" cy="33176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403449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71500" y="1403449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The Machine Learning model is tasked with discovering a specific, hidden pattern to classify molecules.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571500" y="571172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If all conditions are met, it is a </a:t>
            </a:r>
            <a:r>
              <a:rPr b="1" i="0" lang="en-US" sz="1500" u="none" cap="none" strike="noStrike">
                <a:solidFill>
                  <a:srgbClr val="10B981"/>
                </a:solidFill>
                <a:latin typeface="Open Sans"/>
                <a:ea typeface="Open Sans"/>
                <a:cs typeface="Open Sans"/>
                <a:sym typeface="Open Sans"/>
              </a:rPr>
              <a:t>Binder (1)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. Otherwise, a Non-binder (0).</a:t>
            </a:r>
            <a:endParaRPr/>
          </a:p>
        </p:txBody>
      </p:sp>
      <p:pic>
        <p:nvPicPr>
          <p:cNvPr descr="image.png" id="133" name="Google Shape;13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91275" y="1412974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1295400" y="2403574"/>
            <a:ext cx="431482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Lipophilicity (logP) &gt; 2.5: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Must have sufficient lipid solubility to interact with hydrophobic pockets.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1295400" y="3599557"/>
            <a:ext cx="43148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H-bond donors ≤ 3: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Too many restrict membrane penetration.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1295400" y="4460378"/>
            <a:ext cx="43148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Pocket volume &gt; 450: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The receptor site must have adequate spatial volume.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771525" y="2460724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0B981"/>
                </a:solidFill>
                <a:latin typeface="Open Sans"/>
                <a:ea typeface="Open Sans"/>
                <a:cs typeface="Open Sans"/>
                <a:sym typeface="Open Sans"/>
              </a:rPr>
              <a:t>■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771525" y="3656707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0B981"/>
                </a:solidFill>
                <a:latin typeface="Open Sans"/>
                <a:ea typeface="Open Sans"/>
                <a:cs typeface="Open Sans"/>
                <a:sym typeface="Open Sans"/>
              </a:rPr>
              <a:t>■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771525" y="4517528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0B981"/>
                </a:solidFill>
                <a:latin typeface="Open Sans"/>
                <a:ea typeface="Open Sans"/>
                <a:cs typeface="Open Sans"/>
                <a:sym typeface="Open Sans"/>
              </a:rPr>
              <a:t>■</a:t>
            </a:r>
            <a:endParaRPr/>
          </a:p>
        </p:txBody>
      </p:sp>
      <p:pic>
        <p:nvPicPr>
          <p:cNvPr descr="image.png" id="140" name="Google Shape;14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2417861"/>
            <a:ext cx="2000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1525" y="3613844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71525" y="4474666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571500" y="393799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Binding Criteria</a:t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571500" y="1003399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288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571500" y="202882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The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Confusion Matrix Plot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is essential for analyzing the nature of our prediction errors beyond simple accuracy.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857250" y="27813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True Positives (TP):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Correctly identified Binders.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857250" y="32766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True Negatives (TN):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Correctly identified Non-binders.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857250" y="37719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False Positives (FP):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Type I Error. Model predicted Binder, but it is not. (Wasted lab resources).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857250" y="45720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False Negatives (FN):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Type II Error. Model missed a true Binder. (Missed opportunity).</a:t>
            </a:r>
            <a:endParaRPr/>
          </a:p>
        </p:txBody>
      </p:sp>
      <p:pic>
        <p:nvPicPr>
          <p:cNvPr descr="image.png" id="156" name="Google Shape;15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038350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571500" y="2838450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0B981"/>
                </a:solidFill>
                <a:latin typeface="Open Sans"/>
                <a:ea typeface="Open Sans"/>
                <a:cs typeface="Open Sans"/>
                <a:sym typeface="Open Sans"/>
              </a:rPr>
              <a:t>■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571500" y="3333750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0B981"/>
                </a:solidFill>
                <a:latin typeface="Open Sans"/>
                <a:ea typeface="Open Sans"/>
                <a:cs typeface="Open Sans"/>
                <a:sym typeface="Open Sans"/>
              </a:rPr>
              <a:t>■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571500" y="3829050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0B981"/>
                </a:solidFill>
                <a:latin typeface="Open Sans"/>
                <a:ea typeface="Open Sans"/>
                <a:cs typeface="Open Sans"/>
                <a:sym typeface="Open Sans"/>
              </a:rPr>
              <a:t>■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571500" y="4629150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0B981"/>
                </a:solidFill>
                <a:latin typeface="Open Sans"/>
                <a:ea typeface="Open Sans"/>
                <a:cs typeface="Open Sans"/>
                <a:sym typeface="Open Sans"/>
              </a:rPr>
              <a:t>■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Evaluating Predictions</a:t>
            </a:r>
            <a:endParaRPr/>
          </a:p>
        </p:txBody>
      </p:sp>
      <p:sp>
        <p:nvSpPr>
          <p:cNvPr id="162" name="Google Shape;162;p17"/>
          <p:cNvSpPr/>
          <p:nvPr/>
        </p:nvSpPr>
        <p:spPr>
          <a:xfrm>
            <a:off x="571500" y="11811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81150"/>
            <a:ext cx="11049000" cy="470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/>
        </p:nvSpPr>
        <p:spPr>
          <a:xfrm>
            <a:off x="1809750" y="5057775"/>
            <a:ext cx="8572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Horizontal bars reveal the contribution of each feature to the model's decisions. A higher bar equals more influence, helping us interpret the biological significance behind the algorithm's classifications.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Feature Importance Analysis</a:t>
            </a: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571500" y="11811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00437" y="4280445"/>
            <a:ext cx="5191125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295275" y="2120205"/>
            <a:ext cx="1160145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284C7"/>
                </a:solidFill>
                <a:latin typeface="Montserrat"/>
                <a:ea typeface="Montserrat"/>
                <a:cs typeface="Montserrat"/>
                <a:sym typeface="Montserrat"/>
              </a:rPr>
              <a:t>End of Presentation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571500" y="3234630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Thank you. Opening the floor for questions regarding the model.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" name="Google Shape;18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/>
          <p:nvPr/>
        </p:nvSpPr>
        <p:spPr>
          <a:xfrm>
            <a:off x="2981325" y="2369046"/>
            <a:ext cx="62293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2981325" y="3153816"/>
            <a:ext cx="62293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2981325" y="3938587"/>
            <a:ext cx="62293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2981325" y="3144291"/>
            <a:ext cx="62293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2981325" y="3144291"/>
            <a:ext cx="62293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2981325" y="3929062"/>
            <a:ext cx="62293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2981325" y="3929062"/>
            <a:ext cx="62293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2981325" y="4713833"/>
            <a:ext cx="62293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2981325" y="4713833"/>
            <a:ext cx="62293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4" name="Google Shape;19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81325" y="251846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 txBox="1"/>
          <p:nvPr/>
        </p:nvSpPr>
        <p:spPr>
          <a:xfrm>
            <a:off x="4076700" y="2511921"/>
            <a:ext cx="51339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http://googleusercontent.com/image_collection/image_retrieval/4142429310136168476_0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4076700" y="2757636"/>
            <a:ext cx="51339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computational drug discovery 3d model protein white background</a:t>
            </a:r>
            <a:endParaRPr/>
          </a:p>
        </p:txBody>
      </p:sp>
      <p:pic>
        <p:nvPicPr>
          <p:cNvPr descr="image.png" id="197" name="Google Shape;19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81325" y="3303240"/>
            <a:ext cx="942975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0"/>
          <p:cNvSpPr txBox="1"/>
          <p:nvPr/>
        </p:nvSpPr>
        <p:spPr>
          <a:xfrm>
            <a:off x="4076700" y="3296691"/>
            <a:ext cx="51339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http://googleusercontent.com/image_collection/image_retrieval/14190733017114158788_0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4076700" y="3542407"/>
            <a:ext cx="51339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chemical dataset visualization abstract bright</a:t>
            </a:r>
            <a:endParaRPr/>
          </a:p>
        </p:txBody>
      </p:sp>
      <p:pic>
        <p:nvPicPr>
          <p:cNvPr descr="image.png" id="200" name="Google Shape;20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81325" y="408801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0"/>
          <p:cNvSpPr txBox="1"/>
          <p:nvPr/>
        </p:nvSpPr>
        <p:spPr>
          <a:xfrm>
            <a:off x="4076700" y="4081462"/>
            <a:ext cx="51339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http://googleusercontent.com/image_collection/image_retrieval/3957578813553517894_0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4076700" y="4327177"/>
            <a:ext cx="51339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protein receptor pocket drug binding 3d</a:t>
            </a:r>
            <a:endParaRPr/>
          </a:p>
        </p:txBody>
      </p:sp>
      <p:pic>
        <p:nvPicPr>
          <p:cNvPr descr="image.png" id="203" name="Google Shape;203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981325" y="487278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 txBox="1"/>
          <p:nvPr/>
        </p:nvSpPr>
        <p:spPr>
          <a:xfrm>
            <a:off x="4076700" y="4866233"/>
            <a:ext cx="51339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http://googleusercontent.com/image_collection/image_retrieval/8003879099767512695_0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4076700" y="5111948"/>
            <a:ext cx="51339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confusion matrix machine learning clean chart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Image Sources</a:t>
            </a:r>
            <a:endParaRPr/>
          </a:p>
        </p:txBody>
      </p:sp>
      <p:sp>
        <p:nvSpPr>
          <p:cNvPr id="207" name="Google Shape;207;p20"/>
          <p:cNvSpPr/>
          <p:nvPr/>
        </p:nvSpPr>
        <p:spPr>
          <a:xfrm>
            <a:off x="571500" y="11811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/>
          <p:nvPr/>
        </p:nvSpPr>
        <p:spPr>
          <a:xfrm>
            <a:off x="2200275" y="2369046"/>
            <a:ext cx="77914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2200275" y="3153816"/>
            <a:ext cx="77914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2200275" y="3938587"/>
            <a:ext cx="77914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2200275" y="3144291"/>
            <a:ext cx="7791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2200275" y="3144291"/>
            <a:ext cx="7791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2200275" y="3929062"/>
            <a:ext cx="7791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2200275" y="3929062"/>
            <a:ext cx="7791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2200275" y="4713833"/>
            <a:ext cx="7791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2200275" y="4713833"/>
            <a:ext cx="7791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1" name="Google Shape;22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0275" y="251846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1"/>
          <p:cNvSpPr txBox="1"/>
          <p:nvPr/>
        </p:nvSpPr>
        <p:spPr>
          <a:xfrm>
            <a:off x="3295650" y="2511921"/>
            <a:ext cx="66960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https://cdn.drugdiscoverynews.com/assets/articleNo/15997/aImg/41666/e6687a91-aa14-46c7-a305-eccea17444dd-l.jpg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3295650" y="2757636"/>
            <a:ext cx="66960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www.drugdiscoverynews.com</a:t>
            </a:r>
            <a:endParaRPr/>
          </a:p>
        </p:txBody>
      </p:sp>
      <p:pic>
        <p:nvPicPr>
          <p:cNvPr descr="image.png" id="224" name="Google Shape;22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00275" y="330324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1"/>
          <p:cNvSpPr txBox="1"/>
          <p:nvPr/>
        </p:nvSpPr>
        <p:spPr>
          <a:xfrm>
            <a:off x="3295650" y="3296691"/>
            <a:ext cx="66960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https://pubs.rsc.org/en/Content/Image/GA/D2TC00824F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3295650" y="3542407"/>
            <a:ext cx="66960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pubs.rsc.org</a:t>
            </a:r>
            <a:endParaRPr/>
          </a:p>
        </p:txBody>
      </p:sp>
      <p:pic>
        <p:nvPicPr>
          <p:cNvPr descr="image.png" id="227" name="Google Shape;22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0275" y="408801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1"/>
          <p:cNvSpPr txBox="1"/>
          <p:nvPr/>
        </p:nvSpPr>
        <p:spPr>
          <a:xfrm>
            <a:off x="3295650" y="4081462"/>
            <a:ext cx="66960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https://media.drugdesign.org/course/protein-ligand-binding/snap_v1_c5_1_1.gif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3295650" y="4327177"/>
            <a:ext cx="66960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drugdesign.org</a:t>
            </a:r>
            <a:endParaRPr/>
          </a:p>
        </p:txBody>
      </p:sp>
      <p:pic>
        <p:nvPicPr>
          <p:cNvPr descr="image.png" id="230" name="Google Shape;230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00275" y="487278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1"/>
          <p:cNvSpPr txBox="1"/>
          <p:nvPr/>
        </p:nvSpPr>
        <p:spPr>
          <a:xfrm>
            <a:off x="3295650" y="4866233"/>
            <a:ext cx="66960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https://media.geeksforgeeks.org/wp-content/uploads/20240708132251/confusion-Matrix.PNG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3295650" y="5111948"/>
            <a:ext cx="66960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www.geeksforgeeks.org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Image Sources</a:t>
            </a:r>
            <a:endParaRPr/>
          </a:p>
        </p:txBody>
      </p:sp>
      <p:sp>
        <p:nvSpPr>
          <p:cNvPr id="234" name="Google Shape;234;p21"/>
          <p:cNvSpPr/>
          <p:nvPr/>
        </p:nvSpPr>
        <p:spPr>
          <a:xfrm>
            <a:off x="571500" y="11811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