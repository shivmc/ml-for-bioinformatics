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DM Sans" pitchFamily="2" charset="0"/>
      <p:regular r:id="rId14"/>
      <p:bold r:id="rId15"/>
      <p:italic r:id="rId16"/>
      <p:boldItalic r:id="rId17"/>
    </p:embeddedFont>
    <p:embeddedFont>
      <p:font typeface="DM Sans SemiBold" panose="020B0604020202020204" charset="0"/>
      <p:regular r:id="rId18"/>
      <p:bold r:id="rId19"/>
      <p:italic r:id="rId20"/>
      <p:boldItalic r:id="rId21"/>
    </p:embeddedFont>
    <p:embeddedFont>
      <p:font typeface="Merriweather" panose="000005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DD89677-3402-4067-9058-E1371DFBB47F}">
  <a:tblStyle styleId="{6DD89677-3402-4067-9058-E1371DFBB47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53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4823" y="679932"/>
            <a:ext cx="22574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6276975"/>
            <a:ext cx="12172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371963" y="1477310"/>
            <a:ext cx="6990873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 dirty="0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ESM-2 Mutation Prediction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050" b="1" i="0" u="none" strike="noStrike" cap="none" dirty="0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 for </a:t>
            </a:r>
            <a:r>
              <a:rPr lang="en-US" sz="4050" b="1" i="0" u="none" strike="noStrike" cap="none" dirty="0">
                <a:solidFill>
                  <a:srgbClr val="0D9488"/>
                </a:solidFill>
                <a:latin typeface="Merriweather"/>
                <a:ea typeface="Merriweather"/>
                <a:cs typeface="Merriweather"/>
                <a:sym typeface="Merriweather"/>
              </a:rPr>
              <a:t>Biologists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1809750" y="4160639"/>
            <a:ext cx="8572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An intuitive step-by-step walkthrough showing how evolutionary sequence models predict physical thermodynamic stability transformations.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71525" y="6429375"/>
            <a:ext cx="170497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CORE MODEL PRESENTATION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2172950" y="6429375"/>
            <a:ext cx="190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SLIDE 1 OF 12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6276975"/>
            <a:ext cx="12172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/>
          <p:nvPr/>
        </p:nvSpPr>
        <p:spPr>
          <a:xfrm>
            <a:off x="5715000" y="2767012"/>
            <a:ext cx="762000" cy="476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3405663" y="3005137"/>
            <a:ext cx="5380672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The Biological Challenge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2524125" y="3671887"/>
            <a:ext cx="7143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Bridging the gap between a single nucleotide change, protein conformation stability, and digital predictive modeling.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71525" y="6429375"/>
            <a:ext cx="10287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PART 1: CONTEXT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2153900" y="6429375"/>
            <a:ext cx="381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SLIDE 2 OF 12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42670" y="2000250"/>
            <a:ext cx="4577804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6276975"/>
            <a:ext cx="12172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771525" y="6429375"/>
            <a:ext cx="181927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BIOLOGICAL CORE PRINCIPLES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2144375" y="6429375"/>
            <a:ext cx="476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SLIDE 3 OF 12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771525" y="2355056"/>
            <a:ext cx="559489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D9488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How single residues disrupt structural conformation: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1038225" y="2850356"/>
            <a:ext cx="5328195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Thermodynamic Destabilization:</a:t>
            </a:r>
            <a:r>
              <a:rPr lang="en-US" sz="12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Swapping a single amino acid disrupts crucial hydrophobic packing, hydrogen bonding network, or salt bridges.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1038225" y="3741539"/>
            <a:ext cx="5328195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Structural Collapse:</a:t>
            </a:r>
            <a:r>
              <a:rPr lang="en-US" sz="12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The mutant sequence is energetically unfavorable, causing unfolding or structural disruption (loss of function).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1038225" y="4632721"/>
            <a:ext cx="5328195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Wet-Lab Constraints:</a:t>
            </a:r>
            <a:r>
              <a:rPr lang="en-US" sz="12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Measuring physical stability (melting curve, chemical denaturation) is extremely slow and costly.</a:t>
            </a:r>
            <a:endParaRPr/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52195" y="2009775"/>
            <a:ext cx="4558754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962025" y="581025"/>
            <a:ext cx="10981372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Protein Destabilization Explained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771525" y="581025"/>
            <a:ext cx="57150" cy="4286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2888456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3779639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4670821"/>
            <a:ext cx="114300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531864"/>
            <a:ext cx="3359199" cy="2556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6474" y="2531864"/>
            <a:ext cx="3359199" cy="2556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1424" y="2531864"/>
            <a:ext cx="3359199" cy="2556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6276975"/>
            <a:ext cx="12172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771525" y="6429375"/>
            <a:ext cx="117157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PRACTICAL UTILITY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12144375" y="6429375"/>
            <a:ext cx="476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SLIDE 4 OF 12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1066800" y="3465314"/>
            <a:ext cx="2907082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Clinical Genomics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1066800" y="3817739"/>
            <a:ext cx="2768649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Immediately flagging whether unclassified variants (VUS) discovered in genetic sequencing profiles are actively pathogenic or fully benign.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4711749" y="3465314"/>
            <a:ext cx="2907082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Antibody Design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4711749" y="3817739"/>
            <a:ext cx="2768649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Systematically optimizing therapeutic proteins to maximize shelf-life, thermo-tolerance, and physical stability parameters.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356699" y="3465314"/>
            <a:ext cx="2907082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Pathogen Evolution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356699" y="3817739"/>
            <a:ext cx="2768649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Modeling potential mutation paths of active antigens (like Spike mutations) to anticipate future viral infectivity and fitness changes.</a:t>
            </a:r>
            <a:endParaRPr/>
          </a:p>
        </p:txBody>
      </p:sp>
      <p:pic>
        <p:nvPicPr>
          <p:cNvPr id="138" name="Google Shape;138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66800" y="2874764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11749" y="2874764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56699" y="2874764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962025" y="581025"/>
            <a:ext cx="10981372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Why Computational Prediction?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771525" y="581025"/>
            <a:ext cx="57150" cy="4286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6276975"/>
            <a:ext cx="12172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/>
          <p:nvPr/>
        </p:nvSpPr>
        <p:spPr>
          <a:xfrm>
            <a:off x="5715000" y="2767012"/>
            <a:ext cx="762000" cy="476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3550681" y="3005137"/>
            <a:ext cx="5090636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The Prediction Pipeline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2524125" y="3671887"/>
            <a:ext cx="7143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From evolutionary memory to precise stability quantification. Let's trace how the digital system processes sequence data.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771525" y="6429375"/>
            <a:ext cx="14478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PART 2: THE WORKFLOW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12144375" y="6429375"/>
            <a:ext cx="476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SLIDE 5 OF 12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42670" y="2000250"/>
            <a:ext cx="4577804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6276975"/>
            <a:ext cx="12172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9175" y="723900"/>
            <a:ext cx="4667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771525" y="6429375"/>
            <a:ext cx="132397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ESM-2 INITIALIZATION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12144375" y="6429375"/>
            <a:ext cx="476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SLIDE 6 OF 12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771525" y="2614017"/>
            <a:ext cx="559489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D9488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Evolutionary History as a Biological Grammar: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1038225" y="3109317"/>
            <a:ext cx="5328195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65 Million Sequences:</a:t>
            </a:r>
            <a:r>
              <a:rPr lang="en-US" sz="12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ESM-2 studied the natural universe of proteins to learn general rules: what residues "tolerate" each other.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1038225" y="3741539"/>
            <a:ext cx="5328195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Pretrained Weights:</a:t>
            </a:r>
            <a:r>
              <a:rPr lang="en-US" sz="12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Instead of building from scratch, we load Meta's pre-trained weights. It acts like a highly experienced bioinformatician.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1038225" y="4373760"/>
            <a:ext cx="5328195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Biological Transfer Learning:</a:t>
            </a:r>
            <a:r>
              <a:rPr lang="en-US" sz="12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Standard practice in modern proteomics AI to avoid weeks of supercomputer training time.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885825" y="1009650"/>
            <a:ext cx="10981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Load Pretrained Model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771525" y="581025"/>
            <a:ext cx="57150" cy="4286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3147417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3779639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4411860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34350" y="2232342"/>
            <a:ext cx="3117649" cy="3155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713732"/>
            <a:ext cx="5181600" cy="2192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713732"/>
            <a:ext cx="5181600" cy="2192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6276975"/>
            <a:ext cx="12172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9175" y="723900"/>
            <a:ext cx="4762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771525" y="6429375"/>
            <a:ext cx="13716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DATASET ENGINEERING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12153900" y="6429375"/>
            <a:ext cx="381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SLIDE 7 OF 12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1409700" y="3056632"/>
            <a:ext cx="4410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D9488"/>
                </a:solidFill>
                <a:latin typeface="Merriweather"/>
                <a:ea typeface="Merriweather"/>
                <a:cs typeface="Merriweather"/>
                <a:sym typeface="Merriweather"/>
              </a:rPr>
              <a:t>1. In-Silico Testing Ground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1114425" y="3466207"/>
            <a:ext cx="44958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We pick the well-characterized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Lambda Repressor Protein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(100 amino acids long) as our baseline sequence, then introduce 300 single-point amino acid substitutions to test the model.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877050" y="3056632"/>
            <a:ext cx="441055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D9488"/>
                </a:solidFill>
                <a:latin typeface="Merriweather"/>
                <a:ea typeface="Merriweather"/>
                <a:cs typeface="Merriweather"/>
                <a:sym typeface="Merriweather"/>
              </a:rPr>
              <a:t>2. Stability Benchmark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581775" y="3466207"/>
            <a:ext cx="44958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To evaluate prediction quality, each test mutation has a simulated thermodynamic value (simulated DDG). In larger biological settings, researchers benchmark using databases like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ProTherm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or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ClinVar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pic>
        <p:nvPicPr>
          <p:cNvPr id="189" name="Google Shape;189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14425" y="3085207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81775" y="3085207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903000" y="1088600"/>
            <a:ext cx="10981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Create Mutation Dataset</a:t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771525" y="581025"/>
            <a:ext cx="57150" cy="4286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4380" y="2238375"/>
            <a:ext cx="3143250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6735" y="3841849"/>
            <a:ext cx="6103739" cy="644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6276975"/>
            <a:ext cx="12172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19175" y="723900"/>
            <a:ext cx="4762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771525" y="6429375"/>
            <a:ext cx="13716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ZERO-SHOT HEURISTIC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12144375" y="6429375"/>
            <a:ext cx="476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SLIDE 8 OF 12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5316735" y="2714327"/>
            <a:ext cx="610373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D9488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Evaluating Evolution's Preference: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5316735" y="3133427"/>
            <a:ext cx="6103739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We "mask" (hide) the mutation site and ask ESM-2 what residue it expects. We compare its preference for the original vs the mutated residue: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5316735" y="4676923"/>
            <a:ext cx="610373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Negative Value = Mutant is highly unnatural or destabilizing based on evolutionary models.</a:t>
            </a:r>
            <a:endParaRPr/>
          </a:p>
        </p:txBody>
      </p:sp>
      <p:pic>
        <p:nvPicPr>
          <p:cNvPr id="207" name="Google Shape;207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91530" y="2295525"/>
            <a:ext cx="30289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05302" y="4079974"/>
            <a:ext cx="3326606" cy="168324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962025" y="1009650"/>
            <a:ext cx="10981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Zero-Shot Scoring</a:t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771525" y="581025"/>
            <a:ext cx="57150" cy="4286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19180" y="2373788"/>
            <a:ext cx="3719400" cy="244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1343025"/>
            <a:ext cx="10648950" cy="493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6276975"/>
            <a:ext cx="12172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9175" y="723900"/>
            <a:ext cx="4857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771525" y="4159597"/>
            <a:ext cx="10648950" cy="558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Without being trained on stable/unstable labels, ESM-2's evolutionary score achieves performance matching heavy physics engines. The model implicitly understands structural physical constraints just from sequence history.</a:t>
            </a:r>
            <a:endParaRPr/>
          </a:p>
        </p:txBody>
      </p:sp>
      <p:sp>
        <p:nvSpPr>
          <p:cNvPr id="221" name="Google Shape;221;p21"/>
          <p:cNvSpPr/>
          <p:nvPr/>
        </p:nvSpPr>
        <p:spPr>
          <a:xfrm>
            <a:off x="771525" y="4016722"/>
            <a:ext cx="1064895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771525" y="6429375"/>
            <a:ext cx="16764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PERFORMANCE EVALUATION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12144375" y="6429375"/>
            <a:ext cx="476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SLIDE 9 OF 12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926600" y="1184975"/>
            <a:ext cx="10981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Evaluate Zero-Shot</a:t>
            </a: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771525" y="581025"/>
            <a:ext cx="57150" cy="4286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42670" y="2000250"/>
            <a:ext cx="4577804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6276975"/>
            <a:ext cx="12172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9175" y="723900"/>
            <a:ext cx="4762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2"/>
          <p:cNvSpPr txBox="1"/>
          <p:nvPr/>
        </p:nvSpPr>
        <p:spPr>
          <a:xfrm>
            <a:off x="771525" y="6429375"/>
            <a:ext cx="19240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REGRESSION SUPERVISED LAYER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12087225" y="6429375"/>
            <a:ext cx="10477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SLIDE 10 OF 12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771525" y="2355056"/>
            <a:ext cx="559489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D9488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Mapping Evolutionary Sense to Thermodynamics: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1038225" y="2850356"/>
            <a:ext cx="5328195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Feature Extraction:</a:t>
            </a:r>
            <a:r>
              <a:rPr lang="en-US" sz="12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We pull out ESM-2’s hidden 320-dimensional mathematical "embeddings" for every amino acid in the sequence.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1038225" y="3482578"/>
            <a:ext cx="5328195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Regression Mapping:</a:t>
            </a:r>
            <a:r>
              <a:rPr lang="en-US" sz="12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We freeze ESM-2's core parameters (keeping its base structural knowledge secure) and map these vectors onto thermodynamic metrics.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1038225" y="4373760"/>
            <a:ext cx="5328195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Dramatic Improvement:</a:t>
            </a:r>
            <a:r>
              <a:rPr lang="en-US" sz="12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This guides general biological knowledge to target specific thermal properties, boosting Pearson r score correlation to </a:t>
            </a:r>
            <a:r>
              <a:rPr lang="en-US" sz="1275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~0.6</a:t>
            </a:r>
            <a:r>
              <a:rPr lang="en-US" sz="12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pic>
        <p:nvPicPr>
          <p:cNvPr id="240" name="Google Shape;240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52195" y="2009775"/>
            <a:ext cx="4558754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/>
          <p:nvPr/>
        </p:nvSpPr>
        <p:spPr>
          <a:xfrm>
            <a:off x="962025" y="581025"/>
            <a:ext cx="10981372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Fine-Tune a Regression Head</a:t>
            </a:r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771525" y="581025"/>
            <a:ext cx="57150" cy="4286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1525" y="2888456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1525" y="3520678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1525" y="4411860"/>
            <a:ext cx="114300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576512"/>
            <a:ext cx="10648950" cy="246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6276975"/>
            <a:ext cx="12172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3"/>
          <p:cNvSpPr txBox="1"/>
          <p:nvPr/>
        </p:nvSpPr>
        <p:spPr>
          <a:xfrm>
            <a:off x="771525" y="6429375"/>
            <a:ext cx="223837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ANALYTICAL SUMMARY COMPARISON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12125325" y="6429375"/>
            <a:ext cx="6667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SLIDE 11 OF 12</a:t>
            </a:r>
            <a:endParaRPr/>
          </a:p>
        </p:txBody>
      </p:sp>
      <p:sp>
        <p:nvSpPr>
          <p:cNvPr id="255" name="Google Shape;255;p23"/>
          <p:cNvSpPr/>
          <p:nvPr/>
        </p:nvSpPr>
        <p:spPr>
          <a:xfrm>
            <a:off x="781050" y="2586037"/>
            <a:ext cx="10629900" cy="24479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6" name="Google Shape;256;p23"/>
          <p:cNvGraphicFramePr/>
          <p:nvPr/>
        </p:nvGraphicFramePr>
        <p:xfrm>
          <a:off x="781050" y="258603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{6DD89677-3402-4067-9058-E1371DFBB47F}</a:tableStyleId>
              </a:tblPr>
              <a:tblGrid>
                <a:gridCol w="217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0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8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5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Evaluation Pipeline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Metric: Pearson Correlation (r)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Metric: Classifier AUC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Inherent Biological Interpretation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5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Zero-Shot Mode</a:t>
                      </a:r>
                      <a:r>
                        <a:rPr lang="en-US" sz="1275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(Unsupervised)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 ~ 0.20 - 0.40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AUC ~ 0.65 - 0.85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Pure evolutionary tolerance; captures natural mutation viability constraints.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5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Fine-Tuned Head</a:t>
                      </a:r>
                      <a:r>
                        <a:rPr lang="en-US" sz="1275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(Supervised)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 ~ 0.50 - 0.70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AUC ~ 0.85 - 0.95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Calibrated mapping connecting sequence representation to physical thermodynamics (Gibbs energy shifts).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7" name="Google Shape;257;p23"/>
          <p:cNvSpPr/>
          <p:nvPr/>
        </p:nvSpPr>
        <p:spPr>
          <a:xfrm>
            <a:off x="781050" y="3338512"/>
            <a:ext cx="217988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2960935" y="3338512"/>
            <a:ext cx="2082551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5043487" y="3338512"/>
            <a:ext cx="1680269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6723757" y="3338512"/>
            <a:ext cx="4687192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781050" y="4086225"/>
            <a:ext cx="217988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2960935" y="4086225"/>
            <a:ext cx="208255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5043487" y="4086225"/>
            <a:ext cx="168026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6723757" y="4086225"/>
            <a:ext cx="468719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 txBox="1"/>
          <p:nvPr/>
        </p:nvSpPr>
        <p:spPr>
          <a:xfrm>
            <a:off x="962025" y="581025"/>
            <a:ext cx="10981372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Unsupervised vs Supervised</a:t>
            </a:r>
            <a:endParaRPr/>
          </a:p>
        </p:txBody>
      </p:sp>
      <p:sp>
        <p:nvSpPr>
          <p:cNvPr id="266" name="Google Shape;266;p23"/>
          <p:cNvSpPr/>
          <p:nvPr/>
        </p:nvSpPr>
        <p:spPr>
          <a:xfrm>
            <a:off x="771525" y="581025"/>
            <a:ext cx="57150" cy="4286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656</Words>
  <Application>Microsoft Office PowerPoint</Application>
  <PresentationFormat>Widescreen</PresentationFormat>
  <Paragraphs>74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DM Sans SemiBold</vt:lpstr>
      <vt:lpstr>Merriweather</vt:lpstr>
      <vt:lpstr>Calibri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shiva pawar</cp:lastModifiedBy>
  <cp:revision>1</cp:revision>
  <dcterms:modified xsi:type="dcterms:W3CDTF">2026-05-30T13:33:12Z</dcterms:modified>
</cp:coreProperties>
</file>